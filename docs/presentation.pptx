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97a9e27d664eb0" /><Relationship Type="http://schemas.openxmlformats.org/officeDocument/2006/relationships/extended-properties" Target="/docProps/app.xml" Id="Rf8e43b7c532c47a4" /><Relationship Type="http://schemas.openxmlformats.org/officeDocument/2006/relationships/officeDocument" Target="/ppt/presentation.xml" Id="Rc659bfec7d384e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223153d9a844c6"/>
  </p:sldMasterIdLst>
  <p:notesMasterIdLst>
    <p:notesMasterId xmlns:r="http://schemas.openxmlformats.org/officeDocument/2006/relationships" r:id="Rad3d12afeee94099"/>
  </p:notesMasterIdLst>
  <p:sldIdLst>
    <p:sldId xmlns:r="http://schemas.openxmlformats.org/officeDocument/2006/relationships" id="256" r:id="R22173467197a40a8"/>
    <p:sldId xmlns:r="http://schemas.openxmlformats.org/officeDocument/2006/relationships" id="257" r:id="Rae42869be28f40fb"/>
    <p:sldId xmlns:r="http://schemas.openxmlformats.org/officeDocument/2006/relationships" id="258" r:id="Rf483896c4c964dbb"/>
    <p:sldId xmlns:r="http://schemas.openxmlformats.org/officeDocument/2006/relationships" id="259" r:id="Rdc1d59cfbcd34f52"/>
    <p:sldId xmlns:r="http://schemas.openxmlformats.org/officeDocument/2006/relationships" id="260" r:id="R67dd343d60ed478f"/>
    <p:sldId xmlns:r="http://schemas.openxmlformats.org/officeDocument/2006/relationships" id="261" r:id="Re5023b5689e145ce"/>
    <p:sldId xmlns:r="http://schemas.openxmlformats.org/officeDocument/2006/relationships" id="262" r:id="Rf134a8dc9bd444b9"/>
    <p:sldId xmlns:r="http://schemas.openxmlformats.org/officeDocument/2006/relationships" id="263" r:id="Rf412e12575764d7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7283dd58524c5c" /><Relationship Type="http://schemas.openxmlformats.org/officeDocument/2006/relationships/slideMaster" Target="/ppt/slideMasters/slideMaster1.xml" Id="Rfa223153d9a844c6" /><Relationship Type="http://schemas.openxmlformats.org/officeDocument/2006/relationships/notesMaster" Target="/ppt/notesMasters/notesMaster1.xml" Id="Rad3d12afeee94099" /><Relationship Type="http://schemas.openxmlformats.org/officeDocument/2006/relationships/presProps" Target="/ppt/presProps.xml" Id="Re5ef90ed7c7e4f92" /><Relationship Type="http://schemas.openxmlformats.org/officeDocument/2006/relationships/tableStyles" Target="/ppt/tableStyles.xml" Id="Ra96a029f5c024ba0" /><Relationship Type="http://schemas.openxmlformats.org/officeDocument/2006/relationships/slide" Target="/ppt/slides/slide1.xml" Id="R22173467197a40a8" /><Relationship Type="http://schemas.openxmlformats.org/officeDocument/2006/relationships/slide" Target="/ppt/slides/slide2.xml" Id="Rae42869be28f40fb" /><Relationship Type="http://schemas.openxmlformats.org/officeDocument/2006/relationships/slide" Target="/ppt/slides/slide3.xml" Id="Rf483896c4c964dbb" /><Relationship Type="http://schemas.openxmlformats.org/officeDocument/2006/relationships/slide" Target="/ppt/slides/slide4.xml" Id="Rdc1d59cfbcd34f52" /><Relationship Type="http://schemas.openxmlformats.org/officeDocument/2006/relationships/slide" Target="/ppt/slides/slide5.xml" Id="R67dd343d60ed478f" /><Relationship Type="http://schemas.openxmlformats.org/officeDocument/2006/relationships/slide" Target="/ppt/slides/slide6.xml" Id="Re5023b5689e145ce" /><Relationship Type="http://schemas.openxmlformats.org/officeDocument/2006/relationships/slide" Target="/ppt/slides/slide7.xml" Id="Rf134a8dc9bd444b9" /><Relationship Type="http://schemas.openxmlformats.org/officeDocument/2006/relationships/slide" Target="/ppt/slides/slide8.xml" Id="Rf412e12575764d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9db3d064354c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def4d822e643a3" /><Relationship Type="http://schemas.openxmlformats.org/officeDocument/2006/relationships/notesMaster" Target="/ppt/notesMasters/notesMaster1.xml" Id="R057f2ff2411e4b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7aaf0009bb4fdb" /><Relationship Type="http://schemas.openxmlformats.org/officeDocument/2006/relationships/notesMaster" Target="/ppt/notesMasters/notesMaster1.xml" Id="R7ab10d30cfbe4e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94ff2bc7ad4331" /><Relationship Type="http://schemas.openxmlformats.org/officeDocument/2006/relationships/notesMaster" Target="/ppt/notesMasters/notesMaster1.xml" Id="Rd6cc5752ad8245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ab64189bca46c8" /><Relationship Type="http://schemas.openxmlformats.org/officeDocument/2006/relationships/notesMaster" Target="/ppt/notesMasters/notesMaster1.xml" Id="R796f97284b6644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69d4cb540c4a56" /><Relationship Type="http://schemas.openxmlformats.org/officeDocument/2006/relationships/notesMaster" Target="/ppt/notesMasters/notesMaster1.xml" Id="Rcdc0e37869064f9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5f3e716fb341db" /><Relationship Type="http://schemas.openxmlformats.org/officeDocument/2006/relationships/notesMaster" Target="/ppt/notesMasters/notesMaster1.xml" Id="R73810602adff45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025dee181440bf" /><Relationship Type="http://schemas.openxmlformats.org/officeDocument/2006/relationships/notesMaster" Target="/ppt/notesMasters/notesMaster1.xml" Id="R6f73f8033ea844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a47a26a6b44a87" /><Relationship Type="http://schemas.openxmlformats.org/officeDocument/2006/relationships/notesMaster" Target="/ppt/notesMasters/notesMaster1.xml" Id="Rdb2b1d5810b845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Илья, около 25 секунд. Мы разрабатываем платформу бесплатных онлайн-курсов. Преподаватель создаёт программу из уроков и тестов, а студент проходит её и видит сохранённый прогресс. В MVP входят каталог, обучение, квизы, личный кабинет и обязательное администрирование. Платежи и сертификаты оставляем за рамками первого выпуска.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Илья, около 30 секунд. В команде три человека. Константин отвечает за интерфейс, API, базу данных и исправление ошибок. Станислав составляет тестовые сценарии, проводит проверки и оформляет дефекты. Я веду требования, сроки и Trello, организую согласование результата. У каждой функции есть задача разработки и связанная проверка. Например, кабинет разрабатывает Константин, проверяет Станислав, а критерии приёмки ведёт Илья.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Илья, около 40 секунд. За прошедшую неделю мы создали доску Trello и перенесли туда задачи по основным модулям: регистрации, каталогу, курсам, обучению, тестам и кабинетам. Исходное ТЗ уже существовало раньше, поэтому мы использовали его как основу бэклога. Пример макета Figma помогал обсуждать внешний вид главной страницы. К концу этапа у нас были документ, ориентир интерфейса и список задач. Однако доску заполнили быстро: оценки и критерии готовности системно не вели, реализация модулей не была подтверждена.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Станислав, около 40 секунд. По замечаниям преподавателя мы уточнили правила, от которых зависит тестирование. Администратор и подтверждение email обязательны. Права преподавателя выдаются по заявке. Для курса определены статусы и доступ студентов после снятия с публикации, архивации и удаления. Урок завершается кнопкой. Для квиза выбраны три попытки по двадцать минут и порог семьдесят процентов. Отписка сохраняет историю. Добавлены лимиты файлов и измеримые требования к нагрузке. Это текущая редакция документа, которую ещё нужно согласовать.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Константин, около 35 секунд. Сейчас мы на этапах уточнения требований, проектирования и начала реализации. ТЗ второй редакции подготовлено. Есть первый HTML-прототип и сценарии его проверки. В GitHub опубликованы исходники и документы, изменения разделены на коммиты по этапам. В Trello на всех сорока шести карточках назначены ответственные и связаны разработка с проверками. При этом настоящие регистрация, API, база данных и серверные квизы ещё не реализованы. Справа исходный макет Figma, предоставленный командой, а не скриншот работающей системы.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Илья, около 35 секунд. Новый план охватывает неделю с двадцать четвёртого по тридцатое октября. На ТЗ заложили три story points, на организацию Trello два, на HTML-прототип три, на его проверку два и на презентацию один. Всего одиннадцать SP на команду. Для каждой задачи есть ответственный и срок. Часть артефактов уже подготовлена, но готовность задачи подтверждаем после проверки и приёмки. Эти оценки относятся к новому плану, а не задним числом к прошедшей неделе.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Илья, около 35 секунд. Оценку делаем в story points по относительной сложности. Учитываем объём задачи, зависимости и неопределённость. Story points не переводим напрямую в часы. На вопрос о прошедшей неделе отвечаем так: организационную основу подготовили, а реализацию не завершили. Первоначальные оценки и фактическую длительность не зафиксировали, поэтому достоверно посчитать выполнение плана в SP нельзя. На новой неделе будем отдельно фиксировать принятые результаты, переносы и причины задержек.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Станислав, около 30 секунд. Текущий результат можно показать: уточнённое ТЗ, HTML-прототип, историю GitHub и доску с ответственными. Мне предстоит проверить поиск, фильтры, последовательность уроков, сохранение прогресса и повторную запись, а также поведение на телефоне. Подготовлены восемнадцать сценариев, но браузерный прогон ещё не выполнен. После проверки команда согласует ТЗ, примет прототип и перейдёт к схеме данных и аутентификации.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7c4cc168df4c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0f2d035334ad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96a2560d254a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9d7367198541e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d43e98a95f4c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0a79aa2aea4b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469EC2-730C-4975-921C-ED68432964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699C2BC-BA95-4978-B9F8-CE64E7B2E2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C62D9F8-8A8C-4F39-9782-894F7C6BB5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6D79B3-B491-465F-9A37-FF9FF0EDB2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9F30F4E-EE00-418B-8CC5-9579DE4423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60E2FD-4554-46C6-8773-A56FE6887A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A0CEFD6-B809-4C90-A941-5BC0BA547B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B998EB8-A0CE-43AB-BB6E-6F63F41CE9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ED00C6-50F1-415A-8F11-BA1A1B8C0F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64C3AD1-70B5-4073-ADBC-7A1A6DFD78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71ea3f7e8b4e73" /><Relationship Type="http://schemas.openxmlformats.org/officeDocument/2006/relationships/slideLayout" Target="/ppt/slideLayouts/slideLayout1.xml" Id="Rdcc54b0d2d1e4a2b" /><Relationship Type="http://schemas.openxmlformats.org/officeDocument/2006/relationships/slideLayout" Target="/ppt/slideLayouts/slideLayout2.xml" Id="R14b3fbc4ba204a6f" /><Relationship Type="http://schemas.openxmlformats.org/officeDocument/2006/relationships/slideLayout" Target="/ppt/slideLayouts/slideLayout3.xml" Id="R6c6a1769c7344e4b" /><Relationship Type="http://schemas.openxmlformats.org/officeDocument/2006/relationships/slideLayout" Target="/ppt/slideLayouts/slideLayout4.xml" Id="Rc62e6833bcf54121" /><Relationship Type="http://schemas.openxmlformats.org/officeDocument/2006/relationships/slideLayout" Target="/ppt/slideLayouts/slideLayout5.xml" Id="Reba0d9303f5b4bd4" /><Relationship Type="http://schemas.openxmlformats.org/officeDocument/2006/relationships/slideLayout" Target="/ppt/slideLayouts/slideLayout6.xml" Id="R1db6b410c72147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c54b0d2d1e4a2b"/>
    <p:sldLayoutId xmlns:r="http://schemas.openxmlformats.org/officeDocument/2006/relationships" id="2147483650" r:id="R14b3fbc4ba204a6f"/>
    <p:sldLayoutId xmlns:r="http://schemas.openxmlformats.org/officeDocument/2006/relationships" id="2147483651" r:id="R6c6a1769c7344e4b"/>
    <p:sldLayoutId xmlns:r="http://schemas.openxmlformats.org/officeDocument/2006/relationships" id="2147483652" r:id="Rc62e6833bcf54121"/>
    <p:sldLayoutId xmlns:r="http://schemas.openxmlformats.org/officeDocument/2006/relationships" id="2147483653" r:id="Reba0d9303f5b4bd4"/>
    <p:sldLayoutId xmlns:r="http://schemas.openxmlformats.org/officeDocument/2006/relationships" id="2147483654" r:id="R1db6b410c72147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3b363cfd674237" /><Relationship Type="http://schemas.openxmlformats.org/officeDocument/2006/relationships/notesSlide" Target="/ppt/notesSlides/notesSlide1.xml" Id="Rcbe341624bce4a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e50dee6af646e9" /><Relationship Type="http://schemas.openxmlformats.org/officeDocument/2006/relationships/notesSlide" Target="/ppt/notesSlides/notesSlide2.xml" Id="Rcefef1de45ad4a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c24be4f5484459" /><Relationship Type="http://schemas.openxmlformats.org/officeDocument/2006/relationships/notesSlide" Target="/ppt/notesSlides/notesSlide3.xml" Id="R32d330986ba542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4e32e52b294477" /><Relationship Type="http://schemas.openxmlformats.org/officeDocument/2006/relationships/notesSlide" Target="/ppt/notesSlides/notesSlide4.xml" Id="R8ea1eb1e867a40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dc9252cffc4aee" /><Relationship Type="http://schemas.openxmlformats.org/officeDocument/2006/relationships/image" Target="/ppt/media/image.png" Id="R5d58f458b53d44f4" /><Relationship Type="http://schemas.openxmlformats.org/officeDocument/2006/relationships/notesSlide" Target="/ppt/notesSlides/notesSlide5.xml" Id="Re1dcc5453acd42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ccd3a87c0a415c" /><Relationship Type="http://schemas.openxmlformats.org/officeDocument/2006/relationships/notesSlide" Target="/ppt/notesSlides/notesSlide6.xml" Id="R31007aa60cd24b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04d339a2eb47dd" /><Relationship Type="http://schemas.openxmlformats.org/officeDocument/2006/relationships/notesSlide" Target="/ppt/notesSlides/notesSlide7.xml" Id="R3f36a792e6504d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2c262d35564043" /><Relationship Type="http://schemas.openxmlformats.org/officeDocument/2006/relationships/notesSlide" Target="/ppt/notesSlides/notesSlide8.xml" Id="Rd7224f7bbfe240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eries">
            <a:extLst xmlns:a="http://schemas.openxmlformats.org/drawingml/2006/main">
              <a:ext uri="{FF2B5EF4-FFF2-40B4-BE49-F238E27FC236}">
                <a16:creationId xmlns:a16="http://schemas.microsoft.com/office/drawing/2014/main" id="{EF73C725-1C87-4060-A153-87348588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ОНЛАЙН КУРСЫ / УЧЕБНЫЙ ПРОЕКТ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D9BAD95-C87F-4296-B939-69FF71CC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Онлайн курсы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130D52B-F56E-4FCE-ADBE-82D974EC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idea">
            <a:extLst xmlns:a="http://schemas.openxmlformats.org/drawingml/2006/main">
              <a:ext uri="{FF2B5EF4-FFF2-40B4-BE49-F238E27FC236}">
                <a16:creationId xmlns:a16="http://schemas.microsoft.com/office/drawing/2014/main" id="{86F4A44D-D4D1-4EEB-BA47-4F3474EC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287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6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62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Веб-платформа бесплатных учебных курсов.</a:t>
            </a:r>
          </a:p>
          <a:p xmlns:a="http://schemas.openxmlformats.org/drawingml/2006/main">
            <a: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62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Преподаватель создаёт уроки и тесты,</a:t>
            </a:r>
          </a:p>
          <a:p xmlns:a="http://schemas.openxmlformats.org/drawingml/2006/main">
            <a:pPr>
              <a:buNone/>
              <a:defRPr sz="30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62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студент проходит программу и видит прогресс.</a:t>
            </a:r>
          </a:p>
        </p:txBody>
      </p:sp>
      <p:sp>
        <p:nvSpPr>
          <p:cNvPr id="5" name="stage">
            <a:extLst xmlns:a="http://schemas.openxmlformats.org/drawingml/2006/main">
              <a:ext uri="{FF2B5EF4-FFF2-40B4-BE49-F238E27FC236}">
                <a16:creationId xmlns:a16="http://schemas.microsoft.com/office/drawing/2014/main" id="{7FD88028-B230-4FBB-AAD7-3219EFAC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952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Учебный MVP: каталог, обучение, квизы и личный кабинет</a:t>
            </a:r>
          </a:p>
          <a:p xmlns:a="http://schemas.openxmlformats.org/drawingml/2006/main">
            <a: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Отчёт о прошедшей неделе и текущем результате</a:t>
            </a:r>
          </a:p>
          <a:p xmlns:a="http://schemas.openxmlformats.org/drawingml/2006/main">
            <a:pPr>
              <a:buNone/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24 октября 2026 года</a:t>
            </a:r>
          </a:p>
        </p:txBody>
      </p:sp>
    </p:spTree>
    <p:extLst>
      <p:ext uri="{BB962C8B-B14F-4D97-AF65-F5344CB8AC3E}">
        <p14:creationId xmlns:p14="http://schemas.microsoft.com/office/powerpoint/2010/main" val="12588315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eries">
            <a:extLst xmlns:a="http://schemas.openxmlformats.org/drawingml/2006/main">
              <a:ext uri="{FF2B5EF4-FFF2-40B4-BE49-F238E27FC236}">
                <a16:creationId xmlns:a16="http://schemas.microsoft.com/office/drawing/2014/main" id="{57C187EF-CAD7-41EF-9638-A0405E78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ОНЛАЙН КУРСЫ / УЧЕБНЫЙ ПРОЕКТ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0BD5D04-4DBD-4425-A7EB-E3443C69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Кто за что отвечает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6E4E0A0-C917-42A6-906D-36697E9A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4" name="name0">
            <a:extLst xmlns:a="http://schemas.openxmlformats.org/drawingml/2006/main">
              <a:ext uri="{FF2B5EF4-FFF2-40B4-BE49-F238E27FC236}">
                <a16:creationId xmlns:a16="http://schemas.microsoft.com/office/drawing/2014/main" id="{A2028F08-1F18-4045-BAB6-A542997F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Константин Барановский</a:t>
            </a:r>
          </a:p>
        </p:txBody>
      </p:sp>
      <p:sp>
        <p:nvSpPr>
          <p:cNvPr id="5" name="role0">
            <a:extLst xmlns:a="http://schemas.openxmlformats.org/drawingml/2006/main">
              <a:ext uri="{FF2B5EF4-FFF2-40B4-BE49-F238E27FC236}">
                <a16:creationId xmlns:a16="http://schemas.microsoft.com/office/drawing/2014/main" id="{D6B5E00E-CB5A-46C9-AD6A-26E5920B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Разработчик</a:t>
            </a:r>
          </a:p>
        </p:txBody>
      </p:sp>
      <p:sp>
        <p:nvSpPr>
          <p:cNvPr id="6" name="scope0">
            <a:extLst xmlns:a="http://schemas.openxmlformats.org/drawingml/2006/main">
              <a:ext uri="{FF2B5EF4-FFF2-40B4-BE49-F238E27FC236}">
                <a16:creationId xmlns:a16="http://schemas.microsoft.com/office/drawing/2014/main" id="{958B16FF-D889-4E86-9020-48DFA5D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8605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Разрабатывает интерфейс и серверную часть.</a:t>
            </a:r>
          </a:p>
          <a:p xmlns:a="http://schemas.openxmlformats.org/drawingml/2006/main">
            <a: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Отвечает за БД, запуск и исправление ошибок.</a:t>
            </a:r>
          </a:p>
        </p:txBody>
      </p:sp>
      <p:sp>
        <p:nvSpPr>
          <p:cNvPr id="7" name="name1">
            <a:extLst xmlns:a="http://schemas.openxmlformats.org/drawingml/2006/main">
              <a:ext uri="{FF2B5EF4-FFF2-40B4-BE49-F238E27FC236}">
                <a16:creationId xmlns:a16="http://schemas.microsoft.com/office/drawing/2014/main" id="{DBB6F19C-C6F1-404F-BDC0-58133651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Станислав Борцевич</a:t>
            </a:r>
          </a:p>
        </p:txBody>
      </p:sp>
      <p:sp>
        <p:nvSpPr>
          <p:cNvPr id="8" name="role1">
            <a:extLst xmlns:a="http://schemas.openxmlformats.org/drawingml/2006/main">
              <a:ext uri="{FF2B5EF4-FFF2-40B4-BE49-F238E27FC236}">
                <a16:creationId xmlns:a16="http://schemas.microsoft.com/office/drawing/2014/main" id="{5310060E-A33F-45EE-858D-CCC1BCE2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7662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Тестировщик</a:t>
            </a:r>
          </a:p>
        </p:txBody>
      </p:sp>
      <p:sp>
        <p:nvSpPr>
          <p:cNvPr id="9" name="scope1">
            <a:extLst xmlns:a="http://schemas.openxmlformats.org/drawingml/2006/main">
              <a:ext uri="{FF2B5EF4-FFF2-40B4-BE49-F238E27FC236}">
                <a16:creationId xmlns:a16="http://schemas.microsoft.com/office/drawing/2014/main" id="{6C052E9A-B45C-46B2-84AA-A67CFA44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76675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Готовит тестовые сценарии, проверяет функции.</a:t>
            </a:r>
          </a:p>
          <a:p xmlns:a="http://schemas.openxmlformats.org/drawingml/2006/main">
            <a: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Фиксирует дефекты и проверяет исправления.</a:t>
            </a:r>
          </a:p>
        </p:txBody>
      </p:sp>
      <p:sp>
        <p:nvSpPr>
          <p:cNvPr id="10" name="name2">
            <a:extLst xmlns:a="http://schemas.openxmlformats.org/drawingml/2006/main">
              <a:ext uri="{FF2B5EF4-FFF2-40B4-BE49-F238E27FC236}">
                <a16:creationId xmlns:a16="http://schemas.microsoft.com/office/drawing/2014/main" id="{03C59869-8682-4E09-A783-8327A6C8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Илья Момотюк</a:t>
            </a:r>
          </a:p>
        </p:txBody>
      </p:sp>
      <p:sp>
        <p:nvSpPr>
          <p:cNvPr id="11" name="role2">
            <a:extLst xmlns:a="http://schemas.openxmlformats.org/drawingml/2006/main">
              <a:ext uri="{FF2B5EF4-FFF2-40B4-BE49-F238E27FC236}">
                <a16:creationId xmlns:a16="http://schemas.microsoft.com/office/drawing/2014/main" id="{D129DACA-BE81-4664-A0DE-CB32F31D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Проджект-менеджер</a:t>
            </a:r>
          </a:p>
        </p:txBody>
      </p:sp>
      <p:sp>
        <p:nvSpPr>
          <p:cNvPr id="12" name="scope2">
            <a:extLst xmlns:a="http://schemas.openxmlformats.org/drawingml/2006/main">
              <a:ext uri="{FF2B5EF4-FFF2-40B4-BE49-F238E27FC236}">
                <a16:creationId xmlns:a16="http://schemas.microsoft.com/office/drawing/2014/main" id="{9B6BD6E9-9789-4629-9E74-AB9A8BC5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Уточняет требования, ведёт Trello и сроки.</a:t>
            </a:r>
          </a:p>
          <a:p xmlns:a="http://schemas.openxmlformats.org/drawingml/2006/main">
            <a:pPr>
              <a:buNone/>
              <a:defRPr sz="16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Организует согласование и приёмку результата.</a:t>
            </a:r>
          </a:p>
        </p:txBody>
      </p:sp>
      <p:sp>
        <p:nvSpPr>
          <p:cNvPr id="14" name="shared">
            <a:extLst xmlns:a="http://schemas.openxmlformats.org/drawingml/2006/main">
              <a:ext uri="{FF2B5EF4-FFF2-40B4-BE49-F238E27FC236}">
                <a16:creationId xmlns:a16="http://schemas.microsoft.com/office/drawing/2014/main" id="{8BF506F3-2FC3-41A9-BD21-FB31076B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50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Для каждого модуля отдельно определены разработка, проверка и критерии приёмки.</a:t>
            </a:r>
          </a:p>
        </p:txBody>
      </p:sp>
    </p:spTree>
    <p:extLst>
      <p:ext uri="{BB962C8B-B14F-4D97-AF65-F5344CB8AC3E}">
        <p14:creationId xmlns:p14="http://schemas.microsoft.com/office/powerpoint/2010/main" val="8763725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ries">
            <a:extLst xmlns:a="http://schemas.openxmlformats.org/drawingml/2006/main">
              <a:ext uri="{FF2B5EF4-FFF2-40B4-BE49-F238E27FC236}">
                <a16:creationId xmlns:a16="http://schemas.microsoft.com/office/drawing/2014/main" id="{9E3D0ACC-32FB-4388-AAC1-6879AFA9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ОНЛАЙН КУРСЫ / УЧЕБНЫЙ ПРОЕКТ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A0FED90-7599-4671-B59A-7CD6174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1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Прошедшая неделя: организация проекта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16B2D9A-B78F-48EE-9AD9-CDDEB123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4" name="past">
            <a:extLst xmlns:a="http://schemas.openxmlformats.org/drawingml/2006/main">
              <a:ext uri="{FF2B5EF4-FFF2-40B4-BE49-F238E27FC236}">
                <a16:creationId xmlns:a16="http://schemas.microsoft.com/office/drawing/2014/main" id="{435726DC-E1F5-4CAA-B236-9EB6A38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Что сделали</a:t>
            </a:r>
          </a:p>
        </p:txBody>
      </p:sp>
      <p:sp>
        <p:nvSpPr>
          <p:cNvPr id="5" name="pastbody">
            <a:extLst xmlns:a="http://schemas.openxmlformats.org/drawingml/2006/main">
              <a:ext uri="{FF2B5EF4-FFF2-40B4-BE49-F238E27FC236}">
                <a16:creationId xmlns:a16="http://schemas.microsoft.com/office/drawing/2014/main" id="{B6FECD1A-1DEF-4002-B646-604AFB89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Создали доску Trello и внесли задачи по основным модулям.</a:t>
            </a:r>
          </a:p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Использовали исходное ТЗ как основу первоначального бэклога.</a:t>
            </a:r>
          </a:p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Для обсуждения интерфейса взяли пример главной страницы в Figma.</a:t>
            </a:r>
          </a:p>
        </p:txBody>
      </p:sp>
      <p:sp>
        <p:nvSpPr>
          <p:cNvPr id="6" name="gate">
            <a:extLst xmlns:a="http://schemas.openxmlformats.org/drawingml/2006/main">
              <a:ext uri="{FF2B5EF4-FFF2-40B4-BE49-F238E27FC236}">
                <a16:creationId xmlns:a16="http://schemas.microsoft.com/office/drawing/2014/main" id="{F3265356-DD03-4E73-8B7F-BBE0E301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С каким результатом завершили этап</a:t>
            </a:r>
          </a:p>
        </p:txBody>
      </p:sp>
      <p:sp>
        <p:nvSpPr>
          <p:cNvPr id="7" name="gatebody">
            <a:extLst xmlns:a="http://schemas.openxmlformats.org/drawingml/2006/main">
              <a:ext uri="{FF2B5EF4-FFF2-40B4-BE49-F238E27FC236}">
                <a16:creationId xmlns:a16="http://schemas.microsoft.com/office/drawing/2014/main" id="{80FFBCC7-B652-43E3-87AD-5BDF1725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К концу недели были доступны ТЗ, макет и список задач.</a:t>
            </a:r>
          </a:p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Оценки сложности и критерии готовности ещё не вели системно.</a:t>
            </a:r>
          </a:p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Подтверждённой реализации модулей и протоколов проверок не было.</a:t>
            </a:r>
          </a:p>
        </p:txBody>
      </p:sp>
    </p:spTree>
    <p:extLst>
      <p:ext uri="{BB962C8B-B14F-4D97-AF65-F5344CB8AC3E}">
        <p14:creationId xmlns:p14="http://schemas.microsoft.com/office/powerpoint/2010/main" val="467755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ries">
            <a:extLst xmlns:a="http://schemas.openxmlformats.org/drawingml/2006/main">
              <a:ext uri="{FF2B5EF4-FFF2-40B4-BE49-F238E27FC236}">
                <a16:creationId xmlns:a16="http://schemas.microsoft.com/office/drawing/2014/main" id="{48993E42-E93F-4BB2-AD51-F95F7C32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ОНЛАЙН КУРСЫ / УЧЕБНЫЙ ПРОЕКТ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BD299F2-7419-4048-B380-0E756136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Что уточнили в ТЗ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0FE441B-5FA6-426E-B158-B280EE5F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4" name="decision0">
            <a:extLst xmlns:a="http://schemas.openxmlformats.org/drawingml/2006/main">
              <a:ext uri="{FF2B5EF4-FFF2-40B4-BE49-F238E27FC236}">
                <a16:creationId xmlns:a16="http://schemas.microsoft.com/office/drawing/2014/main" id="{9349942C-913A-41A5-B377-FEE02A79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Администратор обязателен: модерирует курсы, управляет ролями и блокировками.</a:t>
            </a:r>
          </a:p>
        </p:txBody>
      </p:sp>
      <p:sp>
        <p:nvSpPr>
          <p:cNvPr id="5" name="decision1">
            <a:extLst xmlns:a="http://schemas.openxmlformats.org/drawingml/2006/main">
              <a:ext uri="{FF2B5EF4-FFF2-40B4-BE49-F238E27FC236}">
                <a16:creationId xmlns:a16="http://schemas.microsoft.com/office/drawing/2014/main" id="{FF49890D-4B73-48FA-BED1-B115A4EB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Регистрация требует подтверждения email. Права преподавателя выдаются по заявке.</a:t>
            </a:r>
          </a:p>
        </p:txBody>
      </p:sp>
      <p:sp>
        <p:nvSpPr>
          <p:cNvPr id="6" name="decision2">
            <a:extLst xmlns:a="http://schemas.openxmlformats.org/drawingml/2006/main">
              <a:ext uri="{FF2B5EF4-FFF2-40B4-BE49-F238E27FC236}">
                <a16:creationId xmlns:a16="http://schemas.microsoft.com/office/drawing/2014/main" id="{013FC1A4-1F6E-4D8F-A0CF-F4F5E792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Для курса определены статусы, доступ студентов, архив и восстановление после удаления.</a:t>
            </a:r>
          </a:p>
        </p:txBody>
      </p:sp>
      <p:sp>
        <p:nvSpPr>
          <p:cNvPr id="7" name="decision3">
            <a:extLst xmlns:a="http://schemas.openxmlformats.org/drawingml/2006/main">
              <a:ext uri="{FF2B5EF4-FFF2-40B4-BE49-F238E27FC236}">
                <a16:creationId xmlns:a16="http://schemas.microsoft.com/office/drawing/2014/main" id="{796CF487-1F84-4430-A13B-EBBCAC86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Квиз: 3 попытки по 20 минут, порог 70%. Учитываем лучший балл и наличие успешной попытки.</a:t>
            </a:r>
          </a:p>
        </p:txBody>
      </p:sp>
      <p:sp>
        <p:nvSpPr>
          <p:cNvPr id="8" name="decision4">
            <a:extLst xmlns:a="http://schemas.openxmlformats.org/drawingml/2006/main">
              <a:ext uri="{FF2B5EF4-FFF2-40B4-BE49-F238E27FC236}">
                <a16:creationId xmlns:a16="http://schemas.microsoft.com/office/drawing/2014/main" id="{C682C546-B2F8-408D-A4F9-2EE56451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Отписка сохраняет историю. В ТЗ заданы лимиты материалов и профиль нагрузочных испытаний.</a:t>
            </a:r>
          </a:p>
        </p:txBody>
      </p:sp>
    </p:spTree>
    <p:extLst>
      <p:ext uri="{BB962C8B-B14F-4D97-AF65-F5344CB8AC3E}">
        <p14:creationId xmlns:p14="http://schemas.microsoft.com/office/powerpoint/2010/main" val="15177344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eries">
            <a:extLst xmlns:a="http://schemas.openxmlformats.org/drawingml/2006/main">
              <a:ext uri="{FF2B5EF4-FFF2-40B4-BE49-F238E27FC236}">
                <a16:creationId xmlns:a16="http://schemas.microsoft.com/office/drawing/2014/main" id="{16F188B8-4FA6-4DD6-81E5-CC15C7A0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ОНЛАЙН КУРСЫ / УЧЕБНЫЙ ПРОЕКТ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13734EA-0D6E-4F15-AD17-68E8C772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Что есть в SDLC сейчас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5B8BFB6-36AB-40D2-9C70-E044DE81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4" name="now">
            <a:extLst xmlns:a="http://schemas.openxmlformats.org/drawingml/2006/main">
              <a:ext uri="{FF2B5EF4-FFF2-40B4-BE49-F238E27FC236}">
                <a16:creationId xmlns:a16="http://schemas.microsoft.com/office/drawing/2014/main" id="{43181A08-3D33-44B0-A76E-876DA21B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Подготовлено</a:t>
            </a:r>
          </a:p>
        </p:txBody>
      </p:sp>
      <p:sp>
        <p:nvSpPr>
          <p:cNvPr id="5" name="nowbody">
            <a:extLst xmlns:a="http://schemas.openxmlformats.org/drawingml/2006/main">
              <a:ext uri="{FF2B5EF4-FFF2-40B4-BE49-F238E27FC236}">
                <a16:creationId xmlns:a16="http://schemas.microsoft.com/office/drawing/2014/main" id="{50683776-D6CA-4DB1-BA6F-A6A2DE88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6572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Подготовлены ТЗ 2.0 и HTML-прототип.</a:t>
            </a:r>
          </a:p>
          <a:p xmlns:a="http://schemas.openxmlformats.org/drawingml/2006/main">
            <a: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Исходники и документы опубликованы в GitHub.</a:t>
            </a:r>
          </a:p>
          <a:p xmlns:a="http://schemas.openxmlformats.org/drawingml/2006/main">
            <a: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В Trello связаны разработка и проверка.</a:t>
            </a:r>
          </a:p>
          <a:p xmlns:a="http://schemas.openxmlformats.org/drawingml/2006/main">
            <a:pPr>
              <a:buNone/>
              <a:defRPr sz="202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Назначены ответственные на все 46 карточек.</a:t>
            </a:r>
          </a:p>
        </p:txBody>
      </p:sp>
      <p:sp>
        <p:nvSpPr>
          <p:cNvPr id="6" name="next">
            <a:extLst xmlns:a="http://schemas.openxmlformats.org/drawingml/2006/main">
              <a:ext uri="{FF2B5EF4-FFF2-40B4-BE49-F238E27FC236}">
                <a16:creationId xmlns:a16="http://schemas.microsoft.com/office/drawing/2014/main" id="{81CD1A95-EB38-423C-8783-3ED02992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657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Следующий этап</a:t>
            </a:r>
          </a:p>
        </p:txBody>
      </p:sp>
      <p:sp>
        <p:nvSpPr>
          <p:cNvPr id="7" name="nextbody">
            <a:extLst xmlns:a="http://schemas.openxmlformats.org/drawingml/2006/main">
              <a:ext uri="{FF2B5EF4-FFF2-40B4-BE49-F238E27FC236}">
                <a16:creationId xmlns:a16="http://schemas.microsoft.com/office/drawing/2014/main" id="{FCF464FE-FC59-4CA5-ADEA-9ED3C09F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После ревью: схема БД, регистрация</a:t>
            </a:r>
          </a:p>
          <a:p xmlns:a="http://schemas.openxmlformats.org/drawingml/2006/main">
            <a: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и серверная проверка прав.</a:t>
            </a:r>
          </a:p>
          <a:p xmlns:a="http://schemas.openxmlformats.org/drawingml/2006/main">
            <a:pPr>
              <a:buNone/>
              <a:defRPr sz="20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Браузерный прогон прототипа ещё открыт.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12F70-FD0D-498C-AFF2-7336E05196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58f458b53d44f4"/>
          <a:stretch xmlns:a="http://schemas.openxmlformats.org/drawingml/2006/main"/>
        </p:blipFill>
        <p:spPr>
          <a:xfrm xmlns:a="http://schemas.openxmlformats.org/drawingml/2006/main">
            <a:off x="8125408" y="1809750"/>
            <a:ext cx="3084934" cy="4000500"/>
          </a:xfrm>
          <a:prstGeom xmlns:a="http://schemas.openxmlformats.org/drawingml/2006/main" prst="rect">
            <a:avLst/>
          </a:prstGeom>
        </p:spPr>
      </p:pic>
      <p:sp>
        <p:nvSpPr>
          <p:cNvPr id="9" name="caption">
            <a:extLst xmlns:a="http://schemas.openxmlformats.org/drawingml/2006/main">
              <a:ext uri="{FF2B5EF4-FFF2-40B4-BE49-F238E27FC236}">
                <a16:creationId xmlns:a16="http://schemas.microsoft.com/office/drawing/2014/main" id="{C686AFA9-4AF5-489F-BCE7-DB02502C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905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Исходный макет Figma</a:t>
            </a:r>
          </a:p>
        </p:txBody>
      </p:sp>
    </p:spTree>
    <p:extLst>
      <p:ext uri="{BB962C8B-B14F-4D97-AF65-F5344CB8AC3E}">
        <p14:creationId xmlns:p14="http://schemas.microsoft.com/office/powerpoint/2010/main" val="15029366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ries">
            <a:extLst xmlns:a="http://schemas.openxmlformats.org/drawingml/2006/main">
              <a:ext uri="{FF2B5EF4-FFF2-40B4-BE49-F238E27FC236}">
                <a16:creationId xmlns:a16="http://schemas.microsoft.com/office/drawing/2014/main" id="{DB7064B7-EAC8-4761-8AA3-D5B88381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ОНЛАЙН КУРСЫ / УЧЕБНЫЙ ПРОЕКТ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C0113B9-3463-4131-8724-26A84A0B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Новый план недели: 11 SP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7F69C8E-8E09-4A38-BD97-E1FE98F3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4" name="task0">
            <a:extLst xmlns:a="http://schemas.openxmlformats.org/drawingml/2006/main">
              <a:ext uri="{FF2B5EF4-FFF2-40B4-BE49-F238E27FC236}">
                <a16:creationId xmlns:a16="http://schemas.microsoft.com/office/drawing/2014/main" id="{CF602929-47CC-4FD5-BBC8-D866DE02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552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ТЗ 2.0</a:t>
            </a:r>
          </a:p>
        </p:txBody>
      </p:sp>
      <p:sp>
        <p:nvSpPr>
          <p:cNvPr id="5" name="owner0">
            <a:extLst xmlns:a="http://schemas.openxmlformats.org/drawingml/2006/main">
              <a:ext uri="{FF2B5EF4-FFF2-40B4-BE49-F238E27FC236}">
                <a16:creationId xmlns:a16="http://schemas.microsoft.com/office/drawing/2014/main" id="{9089E141-1DC1-4F36-A5CD-5DE751FE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Илья</a:t>
            </a:r>
          </a:p>
        </p:txBody>
      </p:sp>
      <p:sp>
        <p:nvSpPr>
          <p:cNvPr id="6" name="sp0">
            <a:extLst xmlns:a="http://schemas.openxmlformats.org/drawingml/2006/main">
              <a:ext uri="{FF2B5EF4-FFF2-40B4-BE49-F238E27FC236}">
                <a16:creationId xmlns:a16="http://schemas.microsoft.com/office/drawing/2014/main" id="{DFAC421C-63E5-49A1-9183-358DEB93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1431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3 SP</a:t>
            </a:r>
          </a:p>
        </p:txBody>
      </p:sp>
      <p:sp>
        <p:nvSpPr>
          <p:cNvPr id="7" name="task1">
            <a:extLst xmlns:a="http://schemas.openxmlformats.org/drawingml/2006/main">
              <a:ext uri="{FF2B5EF4-FFF2-40B4-BE49-F238E27FC236}">
                <a16:creationId xmlns:a16="http://schemas.microsoft.com/office/drawing/2014/main" id="{54A0D880-8D6A-4F94-A972-AE4E80C4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552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Связи и план Trello</a:t>
            </a:r>
          </a:p>
        </p:txBody>
      </p:sp>
      <p:sp>
        <p:nvSpPr>
          <p:cNvPr id="8" name="owner1">
            <a:extLst xmlns:a="http://schemas.openxmlformats.org/drawingml/2006/main">
              <a:ext uri="{FF2B5EF4-FFF2-40B4-BE49-F238E27FC236}">
                <a16:creationId xmlns:a16="http://schemas.microsoft.com/office/drawing/2014/main" id="{672DD9C5-83BE-4CE4-B079-4206C117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Илья</a:t>
            </a:r>
          </a:p>
        </p:txBody>
      </p:sp>
      <p:sp>
        <p:nvSpPr>
          <p:cNvPr id="9" name="sp1">
            <a:extLst xmlns:a="http://schemas.openxmlformats.org/drawingml/2006/main">
              <a:ext uri="{FF2B5EF4-FFF2-40B4-BE49-F238E27FC236}">
                <a16:creationId xmlns:a16="http://schemas.microsoft.com/office/drawing/2014/main" id="{EFDCF56A-842B-453B-A903-D197412A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8289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2 SP</a:t>
            </a:r>
          </a:p>
        </p:txBody>
      </p:sp>
      <p:sp>
        <p:nvSpPr>
          <p:cNvPr id="10" name="task2">
            <a:extLst xmlns:a="http://schemas.openxmlformats.org/drawingml/2006/main">
              <a:ext uri="{FF2B5EF4-FFF2-40B4-BE49-F238E27FC236}">
                <a16:creationId xmlns:a16="http://schemas.microsoft.com/office/drawing/2014/main" id="{F1931542-39EC-487B-A177-B00358C3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52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HTML-прототип</a:t>
            </a:r>
          </a:p>
        </p:txBody>
      </p:sp>
      <p:sp>
        <p:nvSpPr>
          <p:cNvPr id="11" name="owner2">
            <a:extLst xmlns:a="http://schemas.openxmlformats.org/drawingml/2006/main">
              <a:ext uri="{FF2B5EF4-FFF2-40B4-BE49-F238E27FC236}">
                <a16:creationId xmlns:a16="http://schemas.microsoft.com/office/drawing/2014/main" id="{0321AD92-E9DB-4671-BE5D-79C83DB4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147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Константин</a:t>
            </a:r>
          </a:p>
        </p:txBody>
      </p:sp>
      <p:sp>
        <p:nvSpPr>
          <p:cNvPr id="12" name="sp2">
            <a:extLst xmlns:a="http://schemas.openxmlformats.org/drawingml/2006/main">
              <a:ext uri="{FF2B5EF4-FFF2-40B4-BE49-F238E27FC236}">
                <a16:creationId xmlns:a16="http://schemas.microsoft.com/office/drawing/2014/main" id="{B668F0C5-2A7E-47A9-8C5D-4CE6D0ED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5147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3 SP</a:t>
            </a:r>
          </a:p>
        </p:txBody>
      </p:sp>
      <p:sp>
        <p:nvSpPr>
          <p:cNvPr id="13" name="task3">
            <a:extLst xmlns:a="http://schemas.openxmlformats.org/drawingml/2006/main">
              <a:ext uri="{FF2B5EF4-FFF2-40B4-BE49-F238E27FC236}">
                <a16:creationId xmlns:a16="http://schemas.microsoft.com/office/drawing/2014/main" id="{672A85C7-6EED-49B5-8982-06A354AC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552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Проверка прототипа</a:t>
            </a:r>
          </a:p>
        </p:txBody>
      </p:sp>
      <p:sp>
        <p:nvSpPr>
          <p:cNvPr id="14" name="owner3">
            <a:extLst xmlns:a="http://schemas.openxmlformats.org/drawingml/2006/main">
              <a:ext uri="{FF2B5EF4-FFF2-40B4-BE49-F238E27FC236}">
                <a16:creationId xmlns:a16="http://schemas.microsoft.com/office/drawing/2014/main" id="{05ECA536-2301-49F1-84EF-2814393C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005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Станислав</a:t>
            </a:r>
          </a:p>
        </p:txBody>
      </p:sp>
      <p:sp>
        <p:nvSpPr>
          <p:cNvPr id="15" name="sp3">
            <a:extLst xmlns:a="http://schemas.openxmlformats.org/drawingml/2006/main">
              <a:ext uri="{FF2B5EF4-FFF2-40B4-BE49-F238E27FC236}">
                <a16:creationId xmlns:a16="http://schemas.microsoft.com/office/drawing/2014/main" id="{9EF6E94A-8C67-478C-884D-491DDDF8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2005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2 SP</a:t>
            </a:r>
          </a:p>
        </p:txBody>
      </p:sp>
      <p:sp>
        <p:nvSpPr>
          <p:cNvPr id="16" name="task4">
            <a:extLst xmlns:a="http://schemas.openxmlformats.org/drawingml/2006/main">
              <a:ext uri="{FF2B5EF4-FFF2-40B4-BE49-F238E27FC236}">
                <a16:creationId xmlns:a16="http://schemas.microsoft.com/office/drawing/2014/main" id="{82D19F02-3260-411B-B372-94070702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552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Презентация</a:t>
            </a:r>
          </a:p>
        </p:txBody>
      </p:sp>
      <p:sp>
        <p:nvSpPr>
          <p:cNvPr id="17" name="owner4">
            <a:extLst xmlns:a="http://schemas.openxmlformats.org/drawingml/2006/main">
              <a:ext uri="{FF2B5EF4-FFF2-40B4-BE49-F238E27FC236}">
                <a16:creationId xmlns:a16="http://schemas.microsoft.com/office/drawing/2014/main" id="{32BD6C43-052A-4BFD-8D78-F13FEEA6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863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Илья</a:t>
            </a:r>
          </a:p>
        </p:txBody>
      </p:sp>
      <p:sp>
        <p:nvSpPr>
          <p:cNvPr id="18" name="sp4">
            <a:extLst xmlns:a="http://schemas.openxmlformats.org/drawingml/2006/main">
              <a:ext uri="{FF2B5EF4-FFF2-40B4-BE49-F238E27FC236}">
                <a16:creationId xmlns:a16="http://schemas.microsoft.com/office/drawing/2014/main" id="{80C736BE-84A0-4491-A144-6CCF77EB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886325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1 SP</a:t>
            </a:r>
          </a:p>
        </p:txBody>
      </p:sp>
      <p:sp>
        <p:nvSpPr>
          <p:cNvPr id="19" name="week">
            <a:extLst xmlns:a="http://schemas.openxmlformats.org/drawingml/2006/main">
              <a:ext uri="{FF2B5EF4-FFF2-40B4-BE49-F238E27FC236}">
                <a16:creationId xmlns:a16="http://schemas.microsoft.com/office/drawing/2014/main" id="{DCE6F0A9-C51E-45C9-B205-2F034B30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0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24–30 октября: 11 SP на команду. Это новый план, его итог оценим после проверок.</a:t>
            </a:r>
          </a:p>
        </p:txBody>
      </p:sp>
    </p:spTree>
    <p:extLst>
      <p:ext uri="{BB962C8B-B14F-4D97-AF65-F5344CB8AC3E}">
        <p14:creationId xmlns:p14="http://schemas.microsoft.com/office/powerpoint/2010/main" val="15457696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ries">
            <a:extLst xmlns:a="http://schemas.openxmlformats.org/drawingml/2006/main">
              <a:ext uri="{FF2B5EF4-FFF2-40B4-BE49-F238E27FC236}">
                <a16:creationId xmlns:a16="http://schemas.microsoft.com/office/drawing/2014/main" id="{9E3D0ACC-32FB-4388-AAC1-6879AFA9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ОНЛАЙН КУРСЫ / УЧЕБНЫЙ ПРОЕКТ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A0FED90-7599-4671-B59A-7CD6174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Как оценили сложность и сроки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16B2D9A-B78F-48EE-9AD9-CDDEB123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4" name="past">
            <a:extLst xmlns:a="http://schemas.openxmlformats.org/drawingml/2006/main">
              <a:ext uri="{FF2B5EF4-FFF2-40B4-BE49-F238E27FC236}">
                <a16:creationId xmlns:a16="http://schemas.microsoft.com/office/drawing/2014/main" id="{435726DC-E1F5-4CAA-B236-9EB6A38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Оценка нового плана</a:t>
            </a:r>
          </a:p>
        </p:txBody>
      </p:sp>
      <p:sp>
        <p:nvSpPr>
          <p:cNvPr id="5" name="pastbody">
            <a:extLst xmlns:a="http://schemas.openxmlformats.org/drawingml/2006/main">
              <a:ext uri="{FF2B5EF4-FFF2-40B4-BE49-F238E27FC236}">
                <a16:creationId xmlns:a16="http://schemas.microsoft.com/office/drawing/2014/main" id="{B6FECD1A-1DEF-4002-B646-604AFB89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Используем story points: 1, 2, 3, 5, 8 по относительной сложности.</a:t>
            </a:r>
          </a:p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Учитываем объём изменений, зависимости и технические риски.</a:t>
            </a:r>
          </a:p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ТЗ и HTML получили по 3 SP, Trello и QA по 2 SP, выступление 1 SP.</a:t>
            </a:r>
          </a:p>
        </p:txBody>
      </p:sp>
      <p:sp>
        <p:nvSpPr>
          <p:cNvPr id="6" name="gate">
            <a:extLst xmlns:a="http://schemas.openxmlformats.org/drawingml/2006/main">
              <a:ext uri="{FF2B5EF4-FFF2-40B4-BE49-F238E27FC236}">
                <a16:creationId xmlns:a16="http://schemas.microsoft.com/office/drawing/2014/main" id="{F3265356-DD03-4E73-8B7F-BBE0E301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Уложились ли в прошедшую неделю</a:t>
            </a:r>
          </a:p>
        </p:txBody>
      </p:sp>
      <p:sp>
        <p:nvSpPr>
          <p:cNvPr id="7" name="gatebody">
            <a:extLst xmlns:a="http://schemas.openxmlformats.org/drawingml/2006/main">
              <a:ext uri="{FF2B5EF4-FFF2-40B4-BE49-F238E27FC236}">
                <a16:creationId xmlns:a16="http://schemas.microsoft.com/office/drawing/2014/main" id="{80FFBCC7-B652-43E3-87AD-5BDF1725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Подготовили организационную основу, но реализацию не завершили.</a:t>
            </a:r>
          </a:p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Исходных оценок и фактической длительности задач не зафиксировали.</a:t>
            </a:r>
          </a:p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Поэтому выполнение плана в SP пока нельзя достоверно посчитать.</a:t>
            </a:r>
          </a:p>
        </p:txBody>
      </p:sp>
    </p:spTree>
    <p:extLst>
      <p:ext uri="{BB962C8B-B14F-4D97-AF65-F5344CB8AC3E}">
        <p14:creationId xmlns:p14="http://schemas.microsoft.com/office/powerpoint/2010/main" val="467755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ries">
            <a:extLst xmlns:a="http://schemas.openxmlformats.org/drawingml/2006/main">
              <a:ext uri="{FF2B5EF4-FFF2-40B4-BE49-F238E27FC236}">
                <a16:creationId xmlns:a16="http://schemas.microsoft.com/office/drawing/2014/main" id="{9E3D0ACC-32FB-4388-AAC1-6879AFA9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ОНЛАЙН КУРСЫ / УЧЕБНЫЙ ПРОЕКТ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A0FED90-7599-4671-B59A-7CD6174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Что завершено и что проверить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16B2D9A-B78F-48EE-9AD9-CDDEB123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858393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4" name="past">
            <a:extLst xmlns:a="http://schemas.openxmlformats.org/drawingml/2006/main">
              <a:ext uri="{FF2B5EF4-FFF2-40B4-BE49-F238E27FC236}">
                <a16:creationId xmlns:a16="http://schemas.microsoft.com/office/drawing/2014/main" id="{435726DC-E1F5-4CAA-B236-9EB6A38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Текущий результат</a:t>
            </a:r>
          </a:p>
        </p:txBody>
      </p:sp>
      <p:sp>
        <p:nvSpPr>
          <p:cNvPr id="5" name="pastbody">
            <a:extLst xmlns:a="http://schemas.openxmlformats.org/drawingml/2006/main">
              <a:ext uri="{FF2B5EF4-FFF2-40B4-BE49-F238E27FC236}">
                <a16:creationId xmlns:a16="http://schemas.microsoft.com/office/drawing/2014/main" id="{B6FECD1A-1DEF-4002-B646-604AFB89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Есть ТЗ 2.0, HTML-прототип и презентация.</a:t>
            </a:r>
          </a:p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В GitHub опубликована история изменений.</a:t>
            </a:r>
          </a:p>
          <a:p xmlns:a="http://schemas.openxmlformats.org/drawingml/2006/main">
            <a:pPr>
              <a:buNone/>
              <a:defRPr sz="2175" b="0">
                <a:solidFill>
                  <a:srgbClr val="7773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777383"/>
                </a:solidFill>
                <a:latin typeface="DejaVu Sans"/>
                <a:ea typeface="DejaVu Sans"/>
                <a:cs typeface="DejaVu Sans"/>
              </a:rPr>
              <a:t>В Trello назначены участники и связаны проверки.</a:t>
            </a:r>
          </a:p>
        </p:txBody>
      </p:sp>
      <p:sp>
        <p:nvSpPr>
          <p:cNvPr id="6" name="gate">
            <a:extLst xmlns:a="http://schemas.openxmlformats.org/drawingml/2006/main">
              <a:ext uri="{FF2B5EF4-FFF2-40B4-BE49-F238E27FC236}">
                <a16:creationId xmlns:a16="http://schemas.microsoft.com/office/drawing/2014/main" id="{F3265356-DD03-4E73-8B7F-BBE0E301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6145E6"/>
                </a:solidFill>
                <a:latin typeface="DejaVu Sans"/>
                <a:ea typeface="DejaVu Sans"/>
                <a:cs typeface="DejaVu Sans"/>
              </a:rPr>
              <a:t>Следующие действия команды</a:t>
            </a:r>
          </a:p>
        </p:txBody>
      </p:sp>
      <p:sp>
        <p:nvSpPr>
          <p:cNvPr id="7" name="gatebody">
            <a:extLst xmlns:a="http://schemas.openxmlformats.org/drawingml/2006/main">
              <a:ext uri="{FF2B5EF4-FFF2-40B4-BE49-F238E27FC236}">
                <a16:creationId xmlns:a16="http://schemas.microsoft.com/office/drawing/2014/main" id="{80FFBCC7-B652-43E3-87AD-5BDF1725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Станислав проверяет сайт и фиксирует результаты.</a:t>
            </a:r>
          </a:p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Команда согласует ТЗ и уточняет недельный план.</a:t>
            </a:r>
          </a:p>
          <a:p xmlns:a="http://schemas.openxmlformats.org/drawingml/2006/main">
            <a:pPr>
              <a:buNone/>
              <a:defRPr sz="2175" b="0">
                <a:solidFill>
                  <a:srgbClr val="25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52638"/>
                </a:solidFill>
                <a:latin typeface="DejaVu Sans"/>
                <a:ea typeface="DejaVu Sans"/>
                <a:cs typeface="DejaVu Sans"/>
              </a:rPr>
              <a:t>После приёмки прототипа начинается работа над backend.</a:t>
            </a:r>
          </a:p>
        </p:txBody>
      </p:sp>
    </p:spTree>
    <p:extLst>
      <p:ext uri="{BB962C8B-B14F-4D97-AF65-F5344CB8AC3E}">
        <p14:creationId xmlns:p14="http://schemas.microsoft.com/office/powerpoint/2010/main" val="467755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2026-10-23T23:52:12.6270000Z</dcterms:created>
  <dcterms:modified xsi:type="dcterms:W3CDTF">2026-10-23T23:52:12.6270000Z</dcterms:modified>
</coreProperties>
</file>